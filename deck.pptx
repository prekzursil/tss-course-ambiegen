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failures</c:v>
                </c:pt>
              </c:strCache>
            </c:strRef>
          </c:tx>
          <c:dPt>
            <c:idx val="0"/>
            <c:spPr>
              <a:solidFill>
                <a:srgbClr val="F2A61D"/>
              </a:solidFill>
            </c:spPr>
          </c:dPt>
          <c:dPt>
            <c:idx val="1"/>
            <c:spPr>
              <a:solidFill>
                <a:srgbClr val="9CB4C4"/>
              </a:solidFill>
            </c:spPr>
          </c:dPt>
          <c:cat>
            <c:strRef>
              <c:f>Sheet1!$A$2:$A$3</c:f>
              <c:strCache>
                <c:ptCount val="2"/>
                <c:pt idx="0">
                  <c:v>AmbieGen</c:v>
                </c:pt>
                <c:pt idx="1">
                  <c:v>Random search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 b="1">
                  <a:solidFill>
                    <a:srgbClr val="1D2430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4EA"/>
            </a:solidFill>
          </a:ln>
        </c:spPr>
        <c:txPr>
          <a:bodyPr/>
          <a:lstStyle/>
          <a:p>
            <a:pPr>
              <a:defRPr sz="1200">
                <a:solidFill>
                  <a:srgbClr val="1D2430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 w="6350">
              <a:solidFill>
                <a:srgbClr val="DDE4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6727F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failures</c:v>
                </c:pt>
              </c:strCache>
            </c:strRef>
          </c:tx>
          <c:dPt>
            <c:idx val="0"/>
            <c:spPr>
              <a:solidFill>
                <a:srgbClr val="F2A61D"/>
              </a:solidFill>
            </c:spPr>
          </c:dPt>
          <c:dPt>
            <c:idx val="1"/>
            <c:spPr>
              <a:solidFill>
                <a:srgbClr val="5C7A93"/>
              </a:solidFill>
            </c:spPr>
          </c:dPt>
          <c:dPt>
            <c:idx val="2"/>
            <c:spPr>
              <a:solidFill>
                <a:srgbClr val="9CB4C4"/>
              </a:solidFill>
            </c:spPr>
          </c:dPt>
          <c:cat>
            <c:strRef>
              <c:f>Sheet1!$A$2:$A$4</c:f>
              <c:strCache>
                <c:ptCount val="3"/>
                <c:pt idx="0">
                  <c:v>AmbieGen</c:v>
                </c:pt>
                <c:pt idx="1">
                  <c:v>Frenetic</c:v>
                </c:pt>
                <c:pt idx="2">
                  <c:v>Random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14</c:v>
                </c:pt>
                <c:pt idx="2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 b="1">
                  <a:solidFill>
                    <a:srgbClr val="1D2430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4EA"/>
            </a:solidFill>
          </a:ln>
        </c:spPr>
        <c:txPr>
          <a:bodyPr/>
          <a:lstStyle/>
          <a:p>
            <a:pPr>
              <a:defRPr sz="1200">
                <a:solidFill>
                  <a:srgbClr val="1D2430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>
          <c:spPr>
            <a:ln w="6350">
              <a:solidFill>
                <a:srgbClr val="DDE4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6727F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A* path length</c:v>
                </c:pt>
              </c:strCache>
            </c:strRef>
          </c:tx>
          <c:spPr>
            <a:ln w="34925">
              <a:solidFill>
                <a:srgbClr val="2C4A63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97.0</c:v>
                </c:pt>
                <c:pt idx="1">
                  <c:v>97.0</c:v>
                </c:pt>
                <c:pt idx="2">
                  <c:v>105.3</c:v>
                </c:pt>
                <c:pt idx="3">
                  <c:v>105.3</c:v>
                </c:pt>
                <c:pt idx="4">
                  <c:v>105.3</c:v>
                </c:pt>
                <c:pt idx="5">
                  <c:v>105.3</c:v>
                </c:pt>
                <c:pt idx="6">
                  <c:v>126.9</c:v>
                </c:pt>
                <c:pt idx="7">
                  <c:v>126.9</c:v>
                </c:pt>
                <c:pt idx="8">
                  <c:v>126.9</c:v>
                </c:pt>
                <c:pt idx="9">
                  <c:v>126.9</c:v>
                </c:pt>
                <c:pt idx="10">
                  <c:v>126.9</c:v>
                </c:pt>
                <c:pt idx="11">
                  <c:v>132.1</c:v>
                </c:pt>
                <c:pt idx="12">
                  <c:v>132.1</c:v>
                </c:pt>
                <c:pt idx="13">
                  <c:v>132.1</c:v>
                </c:pt>
                <c:pt idx="14">
                  <c:v>132.1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 threshold (150)</c:v>
                </c:pt>
              </c:strCache>
            </c:strRef>
          </c:tx>
          <c:spPr>
            <a:ln w="25400">
              <a:solidFill>
                <a:srgbClr val="F2A61D"/>
              </a:solidFill>
              <a:prstDash val="dash"/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150</c:v>
                </c:pt>
                <c:pt idx="1">
                  <c:v>150</c:v>
                </c:pt>
                <c:pt idx="2">
                  <c:v>150</c:v>
                </c:pt>
                <c:pt idx="3">
                  <c:v>150</c:v>
                </c:pt>
                <c:pt idx="4">
                  <c:v>150</c:v>
                </c:pt>
                <c:pt idx="5">
                  <c:v>150</c:v>
                </c:pt>
                <c:pt idx="6">
                  <c:v>150</c:v>
                </c:pt>
                <c:pt idx="7">
                  <c:v>150</c:v>
                </c:pt>
                <c:pt idx="8">
                  <c:v>150</c:v>
                </c:pt>
                <c:pt idx="9">
                  <c:v>150</c:v>
                </c:pt>
                <c:pt idx="10">
                  <c:v>150</c:v>
                </c:pt>
                <c:pt idx="11">
                  <c:v>150</c:v>
                </c:pt>
                <c:pt idx="12">
                  <c:v>150</c:v>
                </c:pt>
                <c:pt idx="13">
                  <c:v>150</c:v>
                </c:pt>
                <c:pt idx="14">
                  <c:v>150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4EA"/>
            </a:solidFill>
          </a:ln>
        </c:spPr>
        <c:txPr>
          <a:bodyPr/>
          <a:lstStyle/>
          <a:p>
            <a:pPr>
              <a:defRPr sz="1050">
                <a:solidFill>
                  <a:srgbClr val="66727F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0.0"/>
          <c:min val="80.0"/>
        </c:scaling>
        <c:delete val="0"/>
        <c:axPos val="l"/>
        <c:majorGridlines>
          <c:spPr>
            <a:ln w="6350">
              <a:solidFill>
                <a:srgbClr val="DDE4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6727F"/>
                </a:solidFill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D2430"/>
              </a:solidFill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max deviation</c:v>
                </c:pt>
              </c:strCache>
            </c:strRef>
          </c:tx>
          <c:spPr>
            <a:ln w="34925">
              <a:solidFill>
                <a:srgbClr val="2C4A63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3.64</c:v>
                </c:pt>
                <c:pt idx="1">
                  <c:v>3.71</c:v>
                </c:pt>
                <c:pt idx="2">
                  <c:v>4.14</c:v>
                </c:pt>
                <c:pt idx="3">
                  <c:v>4.14</c:v>
                </c:pt>
                <c:pt idx="4">
                  <c:v>4.15</c:v>
                </c:pt>
                <c:pt idx="5">
                  <c:v>4.15</c:v>
                </c:pt>
                <c:pt idx="6">
                  <c:v>4.38</c:v>
                </c:pt>
                <c:pt idx="7">
                  <c:v>4.38</c:v>
                </c:pt>
                <c:pt idx="8">
                  <c:v>4.38</c:v>
                </c:pt>
                <c:pt idx="9">
                  <c:v>4.38</c:v>
                </c:pt>
                <c:pt idx="10">
                  <c:v>4.38</c:v>
                </c:pt>
                <c:pt idx="11">
                  <c:v>4.65</c:v>
                </c:pt>
                <c:pt idx="12">
                  <c:v>4.65</c:v>
                </c:pt>
                <c:pt idx="13">
                  <c:v>4.65</c:v>
                </c:pt>
                <c:pt idx="14">
                  <c:v>4.65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 threshold (6)</c:v>
                </c:pt>
              </c:strCache>
            </c:strRef>
          </c:tx>
          <c:spPr>
            <a:ln w="25400">
              <a:solidFill>
                <a:srgbClr val="F2A61D"/>
              </a:solidFill>
              <a:prstDash val="dash"/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4EA"/>
            </a:solidFill>
          </a:ln>
        </c:spPr>
        <c:txPr>
          <a:bodyPr/>
          <a:lstStyle/>
          <a:p>
            <a:pPr>
              <a:defRPr sz="1050">
                <a:solidFill>
                  <a:srgbClr val="66727F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.6"/>
          <c:min val="3.0"/>
        </c:scaling>
        <c:delete val="0"/>
        <c:axPos val="l"/>
        <c:majorGridlines>
          <c:spPr>
            <a:ln w="6350">
              <a:solidFill>
                <a:srgbClr val="DDE4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6727F"/>
                </a:solidFill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D2430"/>
              </a:solidFill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1440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D"/>
                </a:solidFill>
                <a:latin typeface="Segoe UI"/>
              </a:rPr>
              <a:t>COURSE TOPIC 4 · AUTOMATIC SEARCH-BASED TESTING OF AUTONOMOUS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98448"/>
            <a:ext cx="1118585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2F4F7"/>
                </a:solidFill>
                <a:latin typeface="Segoe UI"/>
              </a:rPr>
              <a:t>AmbieGen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95728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 i="0">
                <a:solidFill>
                  <a:srgbClr val="9CB4C4"/>
                </a:solidFill>
                <a:latin typeface="Segoe UI"/>
              </a:rPr>
              <a:t>Search-Based Test Case Generation for Autonomous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35808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6B4"/>
                </a:solidFill>
                <a:latin typeface="Consolas"/>
              </a:rPr>
              <a:t>test case = [[type, attr, attr], …] -&gt; simplified model -&gt; fitness + novelty -&gt; NSGA-II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160520"/>
            <a:ext cx="3602736" cy="155448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437083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A61D"/>
                </a:solidFill>
                <a:latin typeface="Segoe UI"/>
              </a:rPr>
              <a:t>The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4700016"/>
            <a:ext cx="31272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6B4"/>
                </a:solidFill>
                <a:latin typeface="Segoe UI"/>
              </a:rPr>
              <a:t>Humeniuk, Khomh, Antoniol - “AmbieGen: A Search-based Framework for Autonomous Systems Testing”, Science of Computer Programming 230 (2023), art. 102990 · arXiv:2301.01234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3107" y="4160520"/>
            <a:ext cx="3602736" cy="155448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0851" y="437083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A61D"/>
                </a:solidFill>
                <a:latin typeface="Segoe UI"/>
              </a:rPr>
              <a:t>The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0851" y="4700016"/>
            <a:ext cx="31272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6B4"/>
                </a:solidFill>
                <a:latin typeface="Segoe UI"/>
              </a:rPr>
              <a:t>github.com/swat-lab-optimization/AmbieGen-tool - MIT license, v0.1.0, built on Pymoo; winner of the SBST 2022 tool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4160520"/>
            <a:ext cx="3602736" cy="155448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37083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A61D"/>
                </a:solidFill>
                <a:latin typeface="Segoe UI"/>
              </a:rPr>
              <a:t>Our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700016"/>
            <a:ext cx="31272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6B4"/>
                </a:solidFill>
                <a:latin typeface="Segoe UI"/>
              </a:rPr>
              <a:t>Built-in robot study + our team case study “Mountain Pass”, executed and logged 2026-10-16 - artifacts in tss/course-ambiegen/evidence/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53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4F7"/>
                </a:solidFill>
                <a:latin typeface="Segoe UI"/>
              </a:rPr>
              <a:t>Presenter 1 - problem · framework · method</a:t>
            </a:r>
            <a:r>
              <a:rPr sz="1300" b="0" i="0">
                <a:solidFill>
                  <a:srgbClr val="2A3342"/>
                </a:solidFill>
                <a:latin typeface="Segoe UI"/>
              </a:rPr>
              <a:t>      |      </a:t>
            </a:r>
            <a:r>
              <a:rPr sz="1300" b="1" i="0">
                <a:solidFill>
                  <a:srgbClr val="F2F4F7"/>
                </a:solidFill>
                <a:latin typeface="Segoe UI"/>
              </a:rPr>
              <a:t>Presenter 2 - case studies · results · 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6B4"/>
                </a:solidFill>
                <a:latin typeface="Segoe UI"/>
              </a:rPr>
              <a:t>2 students × 10 minutes - the deck is split into two labeled parts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20-MINUTE TALK · TWO PRESENTERS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Today: from the testing problem to a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5468112" cy="3749039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8" y="18470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141821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847088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D2430"/>
                </a:solidFill>
                <a:latin typeface="Segoe UI"/>
              </a:rPr>
              <a:t>Part 1 - Problem · Framework ·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57860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C7A93"/>
                </a:solidFill>
                <a:latin typeface="Segoe UI"/>
              </a:rPr>
              <a:t>Presenter 1 · ~10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3081527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99923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Why testing autonomous systems is hard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" y="3465575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38327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AmbieGen: model-in-the-loop idea + framework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" y="3849624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7673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Test representation, algorithms, fitness, novelty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" y="4233672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1513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Operators, defaults and run 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72768"/>
            <a:ext cx="5468112" cy="3749039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0528" y="18470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141821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1847088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D2430"/>
                </a:solidFill>
                <a:latin typeface="Segoe UI"/>
              </a:rPr>
              <a:t>Part 2 - Case Studies · Results ·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257860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C7A93"/>
                </a:solidFill>
                <a:latin typeface="Segoe UI"/>
              </a:rPr>
              <a:t>Presenter 2 · ~10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47104" y="3081527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299923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Paper results: failures found vs random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47104" y="3465575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38327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Built-in case study run: robot mazes (live)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47104" y="3849624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37673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Team case study: “Mountain Pass” roads (live)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47104" y="4233672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41513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Strengths, limits and conclusions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596128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D2430"/>
                </a:solidFill>
                <a:latin typeface="Segoe UI"/>
              </a:rPr>
              <a:t>Every claim in this deck is backed by an artifact: </a:t>
            </a:r>
            <a:r>
              <a:rPr sz="1300" b="1" i="0">
                <a:solidFill>
                  <a:srgbClr val="1D2430"/>
                </a:solidFill>
                <a:latin typeface="Segoe UI"/>
              </a:rPr>
              <a:t>the paper (arXiv:2301.01234), the AmbieGen-tool repo, or our own logged runs in evidence/.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8308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F2A61D"/>
                </a:solidFill>
                <a:latin typeface="Segoe U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9080" y="193852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D"/>
                </a:solidFill>
                <a:latin typeface="Segoe UI"/>
              </a:rPr>
              <a:t>PART 1 · PRESENTER 1 · ~10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0" y="228600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>
                <a:solidFill>
                  <a:srgbClr val="F2F4F7"/>
                </a:solidFill>
                <a:latin typeface="Segoe UI"/>
              </a:rPr>
              <a:t>Problem · Framework ·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3035808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6B4"/>
                </a:solidFill>
                <a:latin typeface="Segoe UI"/>
              </a:rPr>
              <a:t>What makes testing autonomous systems hard, and how AmbieGen searches for the critical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3611880"/>
            <a:ext cx="6949440" cy="11887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9080" y="3931920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3840480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2F4F7"/>
                </a:solidFill>
                <a:latin typeface="Segoe UI"/>
              </a:rPr>
              <a:t>The problem: huge parameter space, rare 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4352544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4261104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2F4F7"/>
                </a:solidFill>
                <a:latin typeface="Segoe UI"/>
              </a:rPr>
              <a:t>The framework: model-in-the-loop + Pymoo 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773168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4681728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2F4F7"/>
                </a:solidFill>
                <a:latin typeface="Segoe UI"/>
              </a:rPr>
              <a:t>The method: representation, algorithms, fitness, novelty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B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Testing autonomous systems does not scale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Source: Humeniuk et al., SCP 2023 (arXiv:2301.01234), §Introduction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6537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C4A63"/>
                </a:solidFill>
                <a:latin typeface="Segoe UI"/>
              </a:rPr>
              <a:t>The parameter space is too large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9384"/>
            <a:ext cx="6537960" cy="452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6727F"/>
                </a:solidFill>
                <a:latin typeface="Segoe UI"/>
              </a:rPr>
              <a:t>Road geometry, obstacle layouts, sensor ranges - simulating every scenario is impossible; the paper's premise is a space too large for exhaustive simulation.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55163"/>
            <a:ext cx="653796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64891"/>
            <a:ext cx="6537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C4A63"/>
                </a:solidFill>
                <a:latin typeface="Segoe UI"/>
              </a:rPr>
              <a:t>Critical failures are rare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48356"/>
            <a:ext cx="6537960" cy="452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6727F"/>
                </a:solidFill>
                <a:latin typeface="Segoe UI"/>
              </a:rPr>
              <a:t>A random scenario almost never pushes the system to its limits - the dangerous configurations cluster in small pockets of the 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5"/>
            <a:ext cx="653796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3"/>
            <a:ext cx="6537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C4A63"/>
                </a:solidFill>
                <a:latin typeface="Segoe UI"/>
              </a:rPr>
              <a:t>Hand-designed tests do not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67327"/>
            <a:ext cx="6537960" cy="452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6727F"/>
                </a:solidFill>
                <a:latin typeface="Segoe UI"/>
              </a:rPr>
              <a:t>Engineers write typical cases; the failures live in atypical ones. AmbieGen searches for them automatically instead of guessing.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28032"/>
            <a:ext cx="6537960" cy="978408"/>
          </a:xfrm>
          <a:prstGeom prst="roundRect">
            <a:avLst>
              <a:gd name="adj" fmla="val 10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828032"/>
            <a:ext cx="60350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6A00"/>
                </a:solidFill>
                <a:latin typeface="Segoe UI"/>
              </a:rPr>
              <a:t>AmbieGen's answer: </a:t>
            </a:r>
            <a:r>
              <a:rPr sz="1300" b="0" i="0">
                <a:solidFill>
                  <a:srgbClr val="1D2430"/>
                </a:solidFill>
                <a:latin typeface="Segoe UI"/>
              </a:rPr>
              <a:t>let an evolutionary algorithm search the scenario space, scoring each candidate on a fast simplified model of the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645920"/>
            <a:ext cx="4416552" cy="416052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874519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4A63"/>
                </a:solidFill>
                <a:latin typeface="Segoe UI"/>
              </a:rPr>
              <a:t>Two systems under test in the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33172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2430"/>
                </a:solidFill>
                <a:latin typeface="Segoe UI"/>
              </a:rPr>
              <a:t>Robot - Pioneer 3-AT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651760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SICK LMS200 laser (10 m range), nearness-diagram obstacle-avoidance navigation, simulated in Player/Stage.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3639312"/>
            <a:ext cx="388620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3803904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2430"/>
                </a:solidFill>
                <a:latin typeface="Segoe UI"/>
              </a:rPr>
              <a:t>Vehicle - Lane Keeping Assist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123944"/>
            <a:ext cx="3886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Tested in BeamNG.tech. Failure criterion: more than 85% of the car's area leaving the lane; speed capped at 70 km/h.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512064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141821"/>
                </a:solidFill>
                <a:latin typeface="Segoe U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51206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A test is “fault-revealing” when it breaks the system like this.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1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Evolve scenarios against a cheap model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Source: Humeniuk et al., SCP 2023 - model-in-the-loop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93392" cy="164592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029968"/>
            <a:ext cx="1700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4A63"/>
                </a:solidFill>
                <a:latin typeface="Segoe UI"/>
              </a:rPr>
              <a:t>Test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06040"/>
            <a:ext cx="17007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6727F"/>
                </a:solidFill>
                <a:latin typeface="Segoe UI"/>
              </a:rPr>
              <a:t>genotype: a list of environment elements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0028" y="2532888"/>
            <a:ext cx="301751" cy="237744"/>
          </a:xfrm>
          <a:prstGeom prst="rightArrow">
            <a:avLst/>
          </a:prstGeom>
          <a:solidFill>
            <a:srgbClr val="9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5496" y="1828800"/>
            <a:ext cx="1993392" cy="164592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029968"/>
            <a:ext cx="1700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4A63"/>
                </a:solidFill>
                <a:latin typeface="Segoe UI"/>
              </a:rPr>
              <a:t>Simplified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606040"/>
            <a:ext cx="17007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6727F"/>
                </a:solidFill>
                <a:latin typeface="Segoe UI"/>
              </a:rPr>
              <a:t>kinematic car / A* planner - cheap to evaluate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32603" y="2532888"/>
            <a:ext cx="301751" cy="237744"/>
          </a:xfrm>
          <a:prstGeom prst="rightArrow">
            <a:avLst/>
          </a:prstGeom>
          <a:solidFill>
            <a:srgbClr val="9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8072" y="1828800"/>
            <a:ext cx="1993392" cy="164592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4376" y="2029968"/>
            <a:ext cx="1700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4A63"/>
                </a:solidFill>
                <a:latin typeface="Segoe UI"/>
              </a:rPr>
              <a:t>Fitness + novelty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606040"/>
            <a:ext cx="17007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6727F"/>
                </a:solidFill>
                <a:latin typeface="Segoe UI"/>
              </a:rPr>
              <a:t>how fault-revealing and how different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55180" y="2532888"/>
            <a:ext cx="301751" cy="237744"/>
          </a:xfrm>
          <a:prstGeom prst="rightArrow">
            <a:avLst/>
          </a:prstGeom>
          <a:solidFill>
            <a:srgbClr val="9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70648" y="1828800"/>
            <a:ext cx="1993392" cy="164592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2029968"/>
            <a:ext cx="1700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4A63"/>
                </a:solidFill>
                <a:latin typeface="Segoe UI"/>
              </a:rPr>
              <a:t>Evolutionary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606040"/>
            <a:ext cx="17007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6727F"/>
                </a:solidFill>
                <a:latin typeface="Segoe UI"/>
              </a:rPr>
              <a:t>NSGA-II: select · crossover · mutate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77756" y="2532888"/>
            <a:ext cx="301751" cy="237744"/>
          </a:xfrm>
          <a:prstGeom prst="rightArrow">
            <a:avLst/>
          </a:prstGeom>
          <a:solidFill>
            <a:srgbClr val="9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93224" y="1828800"/>
            <a:ext cx="1993392" cy="1645920"/>
          </a:xfrm>
          <a:prstGeom prst="roundRect">
            <a:avLst>
              <a:gd name="adj" fmla="val 9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2029968"/>
            <a:ext cx="1700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821"/>
                </a:solidFill>
                <a:latin typeface="Segoe UI"/>
              </a:rPr>
              <a:t>Test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606040"/>
            <a:ext cx="17007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A2E10"/>
                </a:solidFill>
                <a:latin typeface="Segoe UI"/>
              </a:rPr>
              <a:t>validate on the full simulator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675887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one search loop - defaults: population 100 × 100 generations, crossover 0.9, mutation 0.4 (config.py)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24528"/>
            <a:ext cx="11185855" cy="17830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462272"/>
            <a:ext cx="10600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C4A63"/>
                </a:solidFill>
                <a:latin typeface="Segoe UI"/>
              </a:rPr>
              <a:t>Why a simplified model inside the loop?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864608"/>
            <a:ext cx="106006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D2430"/>
                </a:solidFill>
                <a:latin typeface="Segoe UI"/>
              </a:rPr>
              <a:t>The full simulator (BeamNG.tech, Player/Stage) is far too slow to evaluate thousands of candidate scenarios. AmbieGen evolves against a cheap model of the system under test, so every evaluation is fast, and only the final test suite goes to the real simulator - the paper completes a 2-hour budget per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1 · THE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AmbieGen: a modular tool built on the Pymoo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Sources: repo README (Installation, Adding a new problem) · paper §framework · ambiegen/__init__.py:1-9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989320" cy="416052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AmbieGen-tool - MIT license · v0.1.0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31136"/>
            <a:ext cx="5440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31136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D2430"/>
                </a:solidFill>
                <a:latin typeface="Segoe UI"/>
              </a:rPr>
              <a:t>Pymoo evolutionary core - GA · NSGA-II · Random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54096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extension points - implement 4 classes to add a system under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01568"/>
            <a:ext cx="126187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401568"/>
            <a:ext cx="115214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7128" y="3401568"/>
            <a:ext cx="126187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2" y="3401568"/>
            <a:ext cx="115214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Sampling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7016" y="3401568"/>
            <a:ext cx="126187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3401568"/>
            <a:ext cx="115214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Crossover / Mutation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46904" y="3401568"/>
            <a:ext cx="126187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3401568"/>
            <a:ext cx="115214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24528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shipped systems under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53712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553712"/>
            <a:ext cx="243230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D2430"/>
                </a:solidFill>
                <a:latin typeface="Segoe UI"/>
              </a:rPr>
              <a:t>robot - Player/Stage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553712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5887" y="4553712"/>
            <a:ext cx="243230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D2430"/>
                </a:solidFill>
                <a:latin typeface="Segoe UI"/>
              </a:rPr>
              <a:t>vehicle LKAS - BeamNG.tech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0352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search operators + samplers are pluggable the same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64592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4A63"/>
                </a:solidFill>
                <a:latin typeface="Segoe UI"/>
              </a:rPr>
              <a:t>Open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929384"/>
            <a:ext cx="478231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6727F"/>
                </a:solidFill>
                <a:latin typeface="Segoe UI"/>
              </a:rPr>
              <a:t>github.com/swat-lab-optimization/AmbieGen-tool - MIT license; the exact tool behind the paper's experiments (cloned and executed by us).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569464"/>
            <a:ext cx="4782312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2633472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4A63"/>
                </a:solidFill>
                <a:latin typeface="Segoe UI"/>
              </a:rPr>
              <a:t>Modular by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16936"/>
            <a:ext cx="47823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6727F"/>
                </a:solidFill>
                <a:latin typeface="Segoe UI"/>
              </a:rPr>
              <a:t>A new system under test plugs in as Problem + Sampling + Operators + Solution classes - no changes to the core.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364992"/>
            <a:ext cx="4782312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42900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4A63"/>
                </a:solidFill>
                <a:latin typeface="Segoe UI"/>
              </a:rPr>
              <a:t>Competition-proven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712463"/>
            <a:ext cx="47823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6727F"/>
                </a:solidFill>
                <a:latin typeface="Segoe UI"/>
              </a:rPr>
              <a:t>Winner of the SBST 2022 tool competition: the most diverse fault-revealing scenarios under a limited time budget.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160520"/>
            <a:ext cx="4782312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224528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4A63"/>
                </a:solidFill>
                <a:latin typeface="Segoe UI"/>
              </a:rPr>
              <a:t>Reproducible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07992"/>
            <a:ext cx="47823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6727F"/>
                </a:solidFill>
                <a:latin typeface="Segoe UI"/>
              </a:rPr>
              <a:t>random seeds, duplicate elimination, stats + convergence logs, and compare.py boxplots for algorithm face-offs.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1 · TEST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A test case is just an array of environment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Source: repo README - “Representation of the test cases”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68112" cy="288036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4A63"/>
                </a:solidFill>
                <a:latin typeface="Segoe UI"/>
              </a:rPr>
              <a:t>Robot - maze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2430"/>
                </a:solidFill>
                <a:latin typeface="Consolas"/>
              </a:rPr>
              <a:t>element = [type, size, 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151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type: 0 = horizontal wall · 1 = vertical wall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35808"/>
            <a:ext cx="4919472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448056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D2430"/>
                </a:solidFill>
                <a:latin typeface="Consolas"/>
              </a:rPr>
              <a:t>[1, 15, 40]  -&gt;  vertical wall, size 15, at x = 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27632"/>
            <a:ext cx="5468112" cy="288036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470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4A63"/>
                </a:solidFill>
                <a:latin typeface="Segoe UI"/>
              </a:rPr>
              <a:t>Vehicle - road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1284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2430"/>
                </a:solidFill>
                <a:latin typeface="Consolas"/>
              </a:rPr>
              <a:t>element = [type, length, angle]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151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type: 0 = straight · 1 = turn right · 2 = turn left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035808"/>
            <a:ext cx="4919472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035808"/>
            <a:ext cx="448056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D2430"/>
                </a:solidFill>
                <a:latin typeface="Consolas"/>
              </a:rPr>
              <a:t>[1, 0, 75]  -&gt;  turn right by 75°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36592"/>
            <a:ext cx="11185855" cy="1481328"/>
          </a:xfrm>
          <a:prstGeom prst="roundRect">
            <a:avLst>
              <a:gd name="adj" fmla="val 6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937760"/>
            <a:ext cx="10600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9A6A00"/>
                </a:solidFill>
                <a:latin typeface="Segoe UI"/>
              </a:rPr>
              <a:t>Genomes are variable-length - crossover works across different lengths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285232"/>
            <a:ext cx="10600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A real genome from our team run - tc0, all 7 segments verbatim (opens with 75° and 76° turns):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596128"/>
            <a:ext cx="10600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2430"/>
                </a:solidFill>
                <a:latin typeface="Consolas"/>
              </a:rPr>
              <a:t>[[1,0,75],[2,0,76],[0,10,0],[0,7,76],[2,0,63],[0,9,0],[0,6,0]]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92531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27F"/>
                </a:solidFill>
                <a:latin typeface="Segoe UI"/>
              </a:rPr>
              <a:t>evidence/team/16-10-2026_team_tcs_nsga2/16-10-2026-tcs.json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1 · THE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Three algorithms, one Pymoo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Sources: ambiegen/__init__.py:1-9 (registry) · optimize.py:86-120 · CLI verified via --help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7632"/>
          <a:ext cx="11183112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1560"/>
                <a:gridCol w="4160520"/>
                <a:gridCol w="2788920"/>
                <a:gridCol w="318211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Key</a:t>
                      </a:r>
                    </a:p>
                  </a:txBody>
                  <a:tcPr marL="109728" marR="73152" marT="27432" marB="27432" anchor="ctr">
                    <a:solidFill>
                      <a:srgbClr val="2C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Algorithm (Pymoo class)</a:t>
                      </a:r>
                    </a:p>
                  </a:txBody>
                  <a:tcPr marL="109728" marR="73152" marT="27432" marB="27432" anchor="ctr">
                    <a:solidFill>
                      <a:srgbClr val="2C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Objectives</a:t>
                      </a:r>
                    </a:p>
                  </a:txBody>
                  <a:tcPr marL="109728" marR="73152" marT="27432" marB="27432" anchor="ctr">
                    <a:solidFill>
                      <a:srgbClr val="2C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109728" marR="73152" marT="27432" marB="27432" anchor="ctr">
                    <a:solidFill>
                      <a:srgbClr val="2C4A6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3"/>
                          </a:solidFill>
                          <a:latin typeface="Consolas"/>
                        </a:rPr>
                        <a:t>nsga2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NSGA-II - multi-objective GA (default)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2: fitness + novelty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best suites: critical AND diverse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3"/>
                          </a:solidFill>
                          <a:latin typeface="Consolas"/>
                        </a:rPr>
                        <a:t>ga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Genetic algorithm - single objective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1: fault-revealing fitness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fast single-objective baseline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3"/>
                          </a:solidFill>
                          <a:latin typeface="Consolas"/>
                        </a:rPr>
                        <a:t>random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Random search (RandomSearch)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D2430"/>
                          </a:solidFill>
                          <a:latin typeface="Segoe UI"/>
                        </a:rPr>
                        <a:t>control baseline for comparison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67328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D2430"/>
                </a:solidFill>
                <a:latin typeface="Segoe UI"/>
              </a:rPr>
              <a:t>Fitness values are negative and minimized by Pymoo </a:t>
            </a:r>
            <a:r>
              <a:rPr sz="1300" b="0" i="0">
                <a:solidFill>
                  <a:srgbClr val="1D2430"/>
                </a:solidFill>
                <a:latin typeface="Segoe UI"/>
              </a:rPr>
              <a:t>- so “minimizing” fitness means maximizing how fault-revealing (or how novel) a scenario is. The algorithm is wired with problem-specific sampling, crossover and mutation, plus duplicate elimination.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26280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736592"/>
            <a:ext cx="10600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4A63"/>
                </a:solidFill>
                <a:latin typeface="Segoe UI"/>
              </a:rPr>
              <a:t>The command line (what we will run in the demo)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84064"/>
            <a:ext cx="10600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D2430"/>
                </a:solidFill>
                <a:latin typeface="Consolas"/>
              </a:rPr>
              <a:t>python optimize.py --problem {robot | vehicle} --algorithm {nsga2 | ga | random} --runs 1 --seed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468112"/>
            <a:ext cx="10600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verified flags; the README's example uses --algo, which does not exist (the real flag is --algorithm, optimize.py:58)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1 · FITNESS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Fitness: make the system misbehave on the cheap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Sources: robot_solution.py:34-58 · vehicle_evaluate.py:99-163 · kinematic_model.py · a_star.py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68112" cy="393192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4A63"/>
                </a:solidFill>
                <a:latin typeface="Segoe UI"/>
              </a:rPr>
              <a:t>Robot - maximize the A*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2340864"/>
            <a:ext cx="82296" cy="82296"/>
          </a:xfrm>
          <a:prstGeom prst="roundRect">
            <a:avLst>
              <a:gd name="adj" fmla="val 30000"/>
            </a:avLst>
          </a:prstGeom>
          <a:solidFill>
            <a:srgbClr val="5C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4942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Obstacle map is built from the genotype's walls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2962656"/>
            <a:ext cx="82296" cy="82296"/>
          </a:xfrm>
          <a:prstGeom prst="roundRect">
            <a:avLst>
              <a:gd name="adj" fmla="val 30000"/>
            </a:avLst>
          </a:prstGeom>
          <a:solidFill>
            <a:srgbClr val="5C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871216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A* plans a route from (1,1) to (map_size - 2, map_size - 2)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3584448"/>
            <a:ext cx="82296" cy="82296"/>
          </a:xfrm>
          <a:prstGeom prst="roundRect">
            <a:avLst>
              <a:gd name="adj" fmla="val 30000"/>
            </a:avLst>
          </a:prstGeom>
          <a:solidFill>
            <a:srgbClr val="5C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493008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fitness = -(path length): a longer forced detour = a harder maze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70832"/>
            <a:ext cx="4919472" cy="914400"/>
          </a:xfrm>
          <a:prstGeom prst="roundRect">
            <a:avLst>
              <a:gd name="adj" fmla="val 10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370832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9A6A00"/>
                </a:solidFill>
                <a:latin typeface="Segoe UI"/>
              </a:rPr>
              <a:t>Failure constraint:  G = 150 - path   -&gt;   fault-revealing when path &gt; 150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27632"/>
            <a:ext cx="5468112" cy="393192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470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4A63"/>
                </a:solidFill>
                <a:latin typeface="Segoe UI"/>
              </a:rPr>
              <a:t>Vehicle - maximize lane deviation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340864"/>
            <a:ext cx="82296" cy="82296"/>
          </a:xfrm>
          <a:prstGeom prst="roundRect">
            <a:avLst>
              <a:gd name="adj" fmla="val 30000"/>
            </a:avLst>
          </a:prstGeom>
          <a:solidFill>
            <a:srgbClr val="5C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24942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Road points are spline-interpolated from the segments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2962656"/>
            <a:ext cx="82296" cy="82296"/>
          </a:xfrm>
          <a:prstGeom prst="roundRect">
            <a:avLst>
              <a:gd name="adj" fmla="val 30000"/>
            </a:avLst>
          </a:prstGeom>
          <a:solidFill>
            <a:srgbClr val="5C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2871216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A kinematic bicycle model + waypoint-following controller drive the road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3584448"/>
            <a:ext cx="82296" cy="82296"/>
          </a:xfrm>
          <a:prstGeom prst="roundRect">
            <a:avLst>
              <a:gd name="adj" fmla="val 30000"/>
            </a:avLst>
          </a:prstGeom>
          <a:solidFill>
            <a:srgbClr val="5C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3493008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fitness = -(max distance between car and road centreline)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370832"/>
            <a:ext cx="4919472" cy="914400"/>
          </a:xfrm>
          <a:prstGeom prst="roundRect">
            <a:avLst>
              <a:gd name="adj" fmla="val 10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4370832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9A6A00"/>
                </a:solidFill>
                <a:latin typeface="Segoe UI"/>
              </a:rPr>
              <a:t>Failure constraint:  G = 5 - deviation   -&gt;   failure when deviation &gt;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0644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727F"/>
                </a:solidFill>
                <a:latin typeface="Segoe UI"/>
              </a:rPr>
              <a:t>Edge cases handled in code: invalid scenarios get fitness 0; self-intersecting roads cap the per-step distance at 3. Our team run raises the vehicle bar to 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1 · SECOND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Novelty: keep the test suite diverse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Sources: vehicle_solution.py:64-101 · vehicle_problem.py:49-61 · robot_problem.py:24-39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6720840" cy="278892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4708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4A63"/>
                </a:solidFill>
                <a:latin typeface="Segoe UI"/>
              </a:rPr>
              <a:t>Pairwise novelty - a Jaccard-style distance between genotypes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67712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D2430"/>
                </a:solidFill>
                <a:latin typeface="Segoe UI"/>
              </a:rPr>
              <a:t>novelty(a, b) = 1 - |a ∩ b| / ( |a| + |b| - |a ∩ b|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98064"/>
            <a:ext cx="6126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Two elements “intersect” when they have the same type and near-equal attributes (tolerance: 5 for vehicle, 2 for robot).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56432"/>
            <a:ext cx="6126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A scenario's novelty = its average distance to the 5 most fault-revealing solutions in the current population.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627632"/>
            <a:ext cx="4187952" cy="2788920"/>
          </a:xfrm>
          <a:prstGeom prst="roundRect">
            <a:avLst>
              <a:gd name="adj" fmla="val 45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847088"/>
            <a:ext cx="3639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6A00"/>
                </a:solidFill>
                <a:latin typeface="Segoe UI"/>
              </a:rPr>
              <a:t>Why a second objective?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12848"/>
            <a:ext cx="363931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D2430"/>
                </a:solidFill>
                <a:latin typeface="Segoe UI"/>
              </a:rPr>
              <a:t>NSGA-II balances fault-revealing against novel, so the suite contains different failures - not 10 near-copies of one. Diversity of failing scenarios is exactly the criterion AmbieGen won at SBST 2022.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81728"/>
            <a:ext cx="11185855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882896"/>
            <a:ext cx="10600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4A63"/>
                </a:solidFill>
                <a:latin typeface="Segoe UI"/>
              </a:rPr>
              <a:t>Two objectives, one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230368"/>
            <a:ext cx="10600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D2430"/>
                </a:solidFill>
                <a:latin typeface="Segoe UI"/>
              </a:rPr>
              <a:t>objective 1 = fault-revealing fitness (per system under test) · objective 2 = novelty vs the elite of the population - NSGA-II evolves a Pareto front of scenarios that are critical AND diverse.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1 · OPERATORS &amp;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Operators, defaults, and what a run produces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Sources: robot_crossover.py:31-50 · vehicle_mutation.py:23-77 · vehicle_sampling.py:22-56 · config.py:2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760720" cy="416052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4A63"/>
                </a:solidFill>
                <a:latin typeface="Segoe UI"/>
              </a:rPr>
              <a:t>Search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2430"/>
                </a:solidFill>
                <a:latin typeface="Segoe UI"/>
              </a:rPr>
              <a:t>Crossover - one-point, p = 0.9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15184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a random cut in the element list; the tails are swapped (works across different lengths)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2841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2430"/>
                </a:solidFill>
                <a:latin typeface="Segoe UI"/>
              </a:rPr>
              <a:t>Mutation - p = 0.4, 1-3 repeats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39312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exchange two random elements, or re-roll one element's type + 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5254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2430"/>
                </a:solidFill>
                <a:latin typeface="Segoe UI"/>
              </a:rPr>
              <a:t>Sampling - random valid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727F"/>
                </a:solidFill>
                <a:latin typeface="Segoe UI"/>
              </a:rPr>
              <a:t>e.g. roads grown from random straight/right/left actions until the map border, then validity-checked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766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duplicate elimination is built into every algorithm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627632"/>
            <a:ext cx="5193792" cy="182880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10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4A63"/>
                </a:solidFill>
                <a:latin typeface="Segoe UI"/>
              </a:rPr>
              <a:t>Shipped defaults (config.py)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5798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D2430"/>
                </a:solidFill>
                <a:latin typeface="Consolas"/>
              </a:rPr>
              <a:t>pop_size 100 · n_gen 100 · mut_rate 0.4
cross_rate 0.9 · test_suite_size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8950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paper experiments used 150 × 200 - our demo runs use a bounded 20 × 15 budget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639312"/>
            <a:ext cx="5193792" cy="214884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822191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4A63"/>
                </a:solidFill>
                <a:latin typeface="Segoe UI"/>
              </a:rPr>
              <a:t>Every run writes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4848" y="4242816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4304" y="415137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stats JSON - suite fitness list + novelty · convergence 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84848" y="4608576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4304" y="451713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test cases JSON - the genomes of the suite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4974336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4304" y="488289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scenario PNGs - one rendered image per test 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3218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27F"/>
                </a:solidFill>
                <a:latin typeface="Consolas"/>
              </a:rPr>
              <a:t>16-10-2026_stats_nsga2/ · _tcs_nsga2/ · _tc_images_nsga2/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8308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F2A61D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9080" y="193852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D"/>
                </a:solidFill>
                <a:latin typeface="Segoe UI"/>
              </a:rPr>
              <a:t>PART 2 · PRESENTER 2 · ~10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0" y="228600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>
                <a:solidFill>
                  <a:srgbClr val="F2F4F7"/>
                </a:solidFill>
                <a:latin typeface="Segoe UI"/>
              </a:rPr>
              <a:t>Case Studies · Results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3035808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6B4"/>
                </a:solidFill>
                <a:latin typeface="Segoe UI"/>
              </a:rPr>
              <a:t>What we ran on this machine - the paper's numbers, our built-in run, and our own team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3611880"/>
            <a:ext cx="6949440" cy="11887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9080" y="3931920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3840480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2F4F7"/>
                </a:solidFill>
                <a:latin typeface="Segoe UI"/>
              </a:rPr>
              <a:t>Paper results: failures found vs random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4352544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4261104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2F4F7"/>
                </a:solidFill>
                <a:latin typeface="Segoe UI"/>
              </a:rPr>
              <a:t>Live demo A - built-in robot case study (~86 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773168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4681728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2F4F7"/>
                </a:solidFill>
                <a:latin typeface="Segoe UI"/>
              </a:rPr>
              <a:t>Live demo B - team case study “Mountain Pass” (~6 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5193792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5102352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2F4F7"/>
                </a:solidFill>
                <a:latin typeface="Segoe UI"/>
              </a:rPr>
              <a:t>Strengths, limits, conclusions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B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2 · PAPER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More failures found than random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Source: Humeniuk et al., SCP 2023 - results sections (30 runs × 2-hour budget; NSGA-II 150 pop × 200 gens)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68112" cy="406908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Robot (Player/Stage) - avg failures in 2 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28600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600200"/>
            <a:ext cx="5468112" cy="406908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LKAS (BeamNG.tech) - avg failures, SBST'22 pipeline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46520" y="2286000"/>
          <a:ext cx="50292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5779008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79008"/>
            <a:ext cx="1063721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6A00"/>
                </a:solidFill>
                <a:latin typeface="Segoe UI"/>
              </a:rPr>
              <a:t>9 vs 2</a:t>
            </a:r>
            <a:r>
              <a:rPr sz="1300" b="0" i="0">
                <a:solidFill>
                  <a:srgbClr val="1D2430"/>
                </a:solidFill>
                <a:latin typeface="Segoe UI"/>
              </a:rPr>
              <a:t> failures on the robot, and </a:t>
            </a:r>
            <a:r>
              <a:rPr sz="1300" b="1" i="0">
                <a:solidFill>
                  <a:srgbClr val="9A6A00"/>
                </a:solidFill>
                <a:latin typeface="Segoe UI"/>
              </a:rPr>
              <a:t>14 vs 9</a:t>
            </a:r>
            <a:r>
              <a:rPr sz="1300" b="0" i="0">
                <a:solidFill>
                  <a:srgbClr val="1D2430"/>
                </a:solidFill>
                <a:latin typeface="Segoe UI"/>
              </a:rPr>
              <a:t> on the LKAS vehicle - AmbieGen matches Frenetic on failures while also winning the diversity criterion (SBST 2022).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2 · BUILT-IN CASE STUDY · OUR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Robot mazes: the search at work in 86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Artifacts: evidence/builtin/run_log.txt · 16-10-2026_stats_nsga2/ · images 16-10-2026_tc_images_nsga2/run0/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C4A63"/>
                </a:solidFill>
                <a:latin typeface="Segoe UI"/>
              </a:rPr>
              <a:t>85.5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396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wall clock · 300 evaluations · seed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15184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A61D"/>
                </a:solidFill>
                <a:latin typeface="Segoe UI"/>
              </a:rPr>
              <a:t>132.1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best A* path length - a maze is fault-revealing above 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3192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C4A63"/>
                </a:solidFill>
                <a:latin typeface="Segoe UI"/>
              </a:rPr>
              <a:t>0.437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988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suite novelty (average pairwise)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56048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NSGA-II · pop 20 × 15 generations (bounded demo budget; shipped defaults are 100 × 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57276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4A63"/>
                </a:solidFill>
                <a:latin typeface="Segoe UI"/>
              </a:rPr>
              <a:t>Best-so-far fitness vs evaluations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703320" y="1874519"/>
          <a:ext cx="4251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15" name="Picture 14" descr="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83080"/>
            <a:ext cx="1691640" cy="1691640"/>
          </a:xfrm>
          <a:prstGeom prst="rect">
            <a:avLst/>
          </a:prstGeom>
        </p:spPr>
      </p:pic>
      <p:pic>
        <p:nvPicPr>
          <p:cNvPr id="16" name="Picture 15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783080"/>
            <a:ext cx="1691640" cy="1691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3529584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tc0 - fitness 132.1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529584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tc4 - fitness 120.7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77639"/>
            <a:ext cx="3520440" cy="155448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4160520"/>
            <a:ext cx="3154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D2430"/>
                </a:solidFill>
                <a:latin typeface="Segoe UI"/>
              </a:rPr>
              <a:t>Each image is one generated maze: the walls plus the A* path the robot is forced to take. A longer path means a harder maze (bar = 150).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5779008"/>
            <a:ext cx="7955279" cy="502920"/>
          </a:xfrm>
          <a:prstGeom prst="roundRect">
            <a:avLst>
              <a:gd name="adj" fmla="val 12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577900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6A00"/>
                </a:solidFill>
                <a:latin typeface="Segoe UI"/>
              </a:rPr>
              <a:t>Live in the terminal: </a:t>
            </a:r>
            <a:r>
              <a:rPr sz="1250" b="0" i="0">
                <a:solidFill>
                  <a:srgbClr val="1D2430"/>
                </a:solidFill>
                <a:latin typeface="Segoe UI"/>
              </a:rPr>
              <a:t>the pymoo table's cv_min column dropped 52.99 -&gt; 17.92 - the search pushing path length toward the 150 bar.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2 · TEAM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“Mountain Pass”: our scenario for the LKAS vehicle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Artifacts: runners/run_team_vehicle.py · evidence/team/team_scenario_config.json · evidence/team/README.md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7632"/>
          <a:ext cx="589788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8920"/>
                <a:gridCol w="1463040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Setting</a:t>
                      </a:r>
                    </a:p>
                  </a:txBody>
                  <a:tcPr marL="109728" marR="73152" marT="27432" marB="27432" anchor="ctr">
                    <a:solidFill>
                      <a:srgbClr val="2C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09728" marR="73152" marT="27432" marB="27432" anchor="ctr">
                    <a:solidFill>
                      <a:srgbClr val="2C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Mountain Pass</a:t>
                      </a:r>
                    </a:p>
                  </a:txBody>
                  <a:tcPr marL="109728" marR="73152" marT="27432" marB="27432" anchor="ctr">
                    <a:solidFill>
                      <a:srgbClr val="2C4A6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C4A63"/>
                          </a:solidFill>
                          <a:latin typeface="Segoe UI"/>
                        </a:rPr>
                        <a:t>map_size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C4A63"/>
                          </a:solidFill>
                          <a:latin typeface="Segoe UI"/>
                        </a:rPr>
                        <a:t>min_len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C4A63"/>
                          </a:solidFill>
                          <a:latin typeface="Segoe UI"/>
                        </a:rPr>
                        <a:t>max_len (straight cap)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9A6A00"/>
                          </a:solidFill>
                          <a:latin typeface="Consolas"/>
                        </a:rPr>
                        <a:t>12  *</a:t>
                      </a:r>
                    </a:p>
                  </a:txBody>
                  <a:tcPr marL="109728" marR="73152" marT="27432" marB="27432" anchor="ctr">
                    <a:solidFill>
                      <a:srgbClr val="FCEFD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C4A63"/>
                          </a:solidFill>
                          <a:latin typeface="Segoe UI"/>
                        </a:rPr>
                        <a:t>min_angle (turn)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10°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9A6A00"/>
                          </a:solidFill>
                          <a:latin typeface="Consolas"/>
                        </a:rPr>
                        <a:t>25°  *</a:t>
                      </a:r>
                    </a:p>
                  </a:txBody>
                  <a:tcPr marL="109728" marR="73152" marT="27432" marB="27432" anchor="ctr">
                    <a:solidFill>
                      <a:srgbClr val="FCEFD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C4A63"/>
                          </a:solidFill>
                          <a:latin typeface="Segoe UI"/>
                        </a:rPr>
                        <a:t>max_angle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80°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80°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C4A63"/>
                          </a:solidFill>
                          <a:latin typeface="Segoe UI"/>
                        </a:rPr>
                        <a:t>failure threshold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D2430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9A6A00"/>
                          </a:solidFill>
                          <a:latin typeface="Consolas"/>
                        </a:rPr>
                        <a:t>6  *</a:t>
                      </a:r>
                    </a:p>
                  </a:txBody>
                  <a:tcPr marL="109728" marR="73152" marT="27432" marB="27432" anchor="ctr">
                    <a:solidFill>
                      <a:srgbClr val="FCEFD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84064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27F"/>
                </a:solidFill>
                <a:latin typeface="Segoe UI"/>
              </a:rPr>
              <a:t>* the three changes that define our scenario (config.py:5-11 defaults)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13248"/>
            <a:ext cx="5897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6727F"/>
                </a:solidFill>
                <a:latin typeface="Segoe UI"/>
              </a:rPr>
              <a:t>Scope, stated plainly: a team-designed scenario for the shipped LKAS SUT (runtime reconfiguration + one subclass) - not a brand-new SUT. The 4-class new-SUT recipe is mapped in research.md §6 and listed under “if we had more time” (slide 18).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627632"/>
            <a:ext cx="5056632" cy="210312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810512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4A63"/>
                </a:solidFill>
                <a:latin typeface="Segoe UI"/>
              </a:rPr>
              <a:t>Why these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2240279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214884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straights capped at 12 - the lane-keeper never gets a stable stretch to settle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2715768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262432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every turn ≥ 25° - sustained, hairpin-like curvature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22008" y="3191256"/>
            <a:ext cx="82296" cy="82296"/>
          </a:xfrm>
          <a:prstGeom prst="roundRect">
            <a:avLst>
              <a:gd name="adj" fmla="val 30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3099816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failure bar raised 5 -&gt; 6 - harder to reveal a failure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877056"/>
            <a:ext cx="5056632" cy="192024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059936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4A63"/>
                </a:solidFill>
                <a:latin typeface="Segoe UI"/>
              </a:rPr>
              <a:t>How - zero repo files modified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425696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scenario set through the native vehicle_env config, patched at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992624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stricter constraint via subclass MountainVehicleProblem2Obj, registered as “vehicle_nsga2”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46811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27F"/>
                </a:solidFill>
                <a:latin typeface="Consolas"/>
              </a:rPr>
              <a:t>runners/run_team_vehicle.py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943600"/>
            <a:ext cx="11185855" cy="457200"/>
          </a:xfrm>
          <a:prstGeom prst="roundRect">
            <a:avLst>
              <a:gd name="adj" fmla="val 14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6A00"/>
                </a:solidFill>
                <a:latin typeface="Segoe UI"/>
              </a:rPr>
              <a:t>Research question: </a:t>
            </a:r>
            <a:r>
              <a:rPr sz="1250" b="0" i="0">
                <a:solidFill>
                  <a:srgbClr val="1D2430"/>
                </a:solidFill>
                <a:latin typeface="Segoe UI"/>
              </a:rPr>
              <a:t>can the search still push the simplified LKAS out of its lane on aggressive geometry and a higher failure bar?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2 · TEAM CASE STUDY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Mountain Pass: deviation pushed to 4.65 against a bar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Artifacts: evidence/team/run_log.txt · 16-10-2026_team_stats_nsga2/ · images 16-10-2026_team_tc_images_nsga2/run0/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C4A63"/>
                </a:solidFill>
                <a:latin typeface="Segoe UI"/>
              </a:rPr>
              <a:t>5.9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396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wall clock · 300 evaluations · seed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15184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A61D"/>
                </a:solidFill>
                <a:latin typeface="Segoe UI"/>
              </a:rPr>
              <a:t>4.649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best max lane deviation - failure needs more than 6 (team bar)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319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4A63"/>
                </a:solidFill>
                <a:latin typeface="Segoe UI"/>
              </a:rPr>
              <a:t>2.36 -&gt; 1.35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622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constraint violation (cv_min) over 15 generations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0118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C4A63"/>
                </a:solidFill>
                <a:latin typeface="Segoe UI"/>
              </a:rPr>
              <a:t>0.583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681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suite novelty (average pairwise)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57276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4A63"/>
                </a:solidFill>
                <a:latin typeface="Segoe UI"/>
              </a:rPr>
              <a:t>Best-so-far lane deviation vs evaluations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703320" y="1874519"/>
          <a:ext cx="4251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16" name="Picture 15" descr="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83080"/>
            <a:ext cx="1691640" cy="1691640"/>
          </a:xfrm>
          <a:prstGeom prst="rect">
            <a:avLst/>
          </a:prstGeom>
        </p:spPr>
      </p:pic>
      <p:pic>
        <p:nvPicPr>
          <p:cNvPr id="17" name="Picture 1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783080"/>
            <a:ext cx="1691640" cy="1691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38160" y="3529584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tc0 - deviation 4.65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529584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tc1 - deviation 4.38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77639"/>
            <a:ext cx="3520440" cy="155448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4160520"/>
            <a:ext cx="3154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D2430"/>
                </a:solidFill>
                <a:latin typeface="Segoe UI"/>
              </a:rPr>
              <a:t>Gray band = the road polygon; blue dots = the car's path drifting away from the centreline through the hairpins.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5779008"/>
            <a:ext cx="7955279" cy="502920"/>
          </a:xfrm>
          <a:prstGeom prst="roundRect">
            <a:avLst>
              <a:gd name="adj" fmla="val 12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577900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6A00"/>
                </a:solidFill>
                <a:latin typeface="Segoe UI"/>
              </a:rPr>
              <a:t>Read of the result: </a:t>
            </a:r>
            <a:r>
              <a:rPr sz="1250" b="0" i="0">
                <a:solidFill>
                  <a:srgbClr val="1D2430"/>
                </a:solidFill>
                <a:latin typeface="Segoe UI"/>
              </a:rPr>
              <a:t>the best deviation rose 3.64 -&gt; 4.65 and never regressed, but did not cross the stricter bar of 6 within this small budget - the expected effect of a higher threshold.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2 ·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What we learned: strengths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Limits verified in our session, 2026-10-16 (see research.md §5, §7)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68112" cy="420624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4A63"/>
                </a:solidFill>
                <a:latin typeface="Segoe U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31136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Modularity is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892040" cy="404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a new scenario needed only a runtime config patch + one subclass; the 4-class extension path is how the tool is actually built.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37510"/>
            <a:ext cx="489204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92374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Cheap fitness, big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5838"/>
            <a:ext cx="4892040" cy="404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simplified models keep evaluations fast - a 2-hour budget yields a 30-case suite in the paper.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98748"/>
            <a:ext cx="489204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5361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Diversity as an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37076"/>
            <a:ext cx="4892040" cy="404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novelty inside NSGA-II produced varied failing scenarios - the SBST 2022 winning criterion.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59986"/>
            <a:ext cx="489204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1485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Reproducible tooling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98314"/>
            <a:ext cx="4892040" cy="22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seeds, per-run stats, convergence logs, compare.py boxplots.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27632"/>
            <a:ext cx="5468112" cy="420624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A6A00"/>
                </a:solidFill>
                <a:latin typeface="Segoe UI"/>
              </a:rPr>
              <a:t>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31136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Surrogate, not 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4892040" cy="404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fitness uses simplified 2D models - no pedestrians, traffic or other cars in the representation (paper's future work).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937510"/>
            <a:ext cx="489204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992374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Small problem zoo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75838"/>
            <a:ext cx="4892040" cy="22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two systems under test (robot, vehicle), three algorithms.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514725"/>
            <a:ext cx="489204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69589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Dependency rough edges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53053"/>
            <a:ext cx="4892040" cy="5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requirements.txt omits scipy/matplotlib/descartes; pymoo must stay pinned to 0.6.0 (0.6.1+ breaks _evaluate); descartes crashes with shapely &gt;= 2.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459986"/>
            <a:ext cx="4892040" cy="11887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51485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4A63"/>
                </a:solidFill>
                <a:latin typeface="Segoe UI"/>
              </a:rPr>
              <a:t>Docs vs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98314"/>
            <a:ext cx="4892040" cy="404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README example uses --algo; the real flag is --algorithm (optimize.py:58).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PART 2 ·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Four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420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141821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627632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C4A63"/>
                </a:solidFill>
                <a:latin typeface="Segoe UI"/>
              </a:rPr>
              <a:t>Search finds failures that random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1975104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D2430"/>
                </a:solidFill>
                <a:latin typeface="Segoe UI"/>
              </a:rPr>
              <a:t>9 vs 2 failures on the robot and 14 vs 9 on the LKAS vehicle, on the paper's 30-run × 2-hour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603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141821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52374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C4A63"/>
                </a:solidFill>
                <a:latin typeface="Segoe UI"/>
              </a:rPr>
              <a:t>The recipe: cheap model + novelty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871215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D2430"/>
                </a:solidFill>
                <a:latin typeface="Segoe UI"/>
              </a:rPr>
              <a:t>surrogate fitness makes the loop fast; the second objective keeps the suite diverse - together they won SBST 2022.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564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141821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419856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C4A63"/>
                </a:solidFill>
                <a:latin typeface="Segoe UI"/>
              </a:rPr>
              <a:t>Extensible in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76732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D2430"/>
                </a:solidFill>
                <a:latin typeface="Segoe UI"/>
              </a:rPr>
              <a:t>we built the “Mountain Pass” scenario without modifying a single repo file - runtime config + one subclass.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5254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141821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31596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C4A63"/>
                </a:solidFill>
                <a:latin typeface="Segoe UI"/>
              </a:rPr>
              <a:t>Read the code, not just the README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466344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D2430"/>
                </a:solidFill>
                <a:latin typeface="Segoe UI"/>
              </a:rPr>
              <a:t>pin pymoo==0.6.0, install the missing deps - and remember the fitness is a simplified model, not the real simulator.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924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504688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4A63"/>
                </a:solidFill>
                <a:latin typeface="Segoe UI"/>
              </a:rPr>
              <a:t>If we had more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504688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D2430"/>
                </a:solidFill>
                <a:latin typeface="Segoe UI"/>
              </a:rPr>
              <a:t>full 100 × 100 run (~45-50 min, est. from our measured 85.5 s) · a brand-new SUT via the 4-class recipe · compare.py boxplots: NSGA-II vs random · quality-diversity search (paper's future work)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4A63"/>
                </a:solidFill>
                <a:latin typeface="Segoe UI"/>
              </a:rPr>
              <a:t>BOTH PARTS ·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D2430"/>
                </a:solidFill>
                <a:latin typeface="Sego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All sources below were fetched, cloned or executed in our session, 2026-10-16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727F"/>
                </a:solidFill>
                <a:latin typeface="Segoe U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1185855" cy="1298448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4A63"/>
                </a:solidFill>
                <a:latin typeface="Segoe UI"/>
              </a:rPr>
              <a:t>[1]  The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Humeniuk, D., Khomh, F., Antoniol, G. “AmbieGen: A Search-based Framework for Autonomous Systems Testing.” </a:t>
            </a:r>
            <a:r>
              <a:rPr sz="1250" b="1" i="0">
                <a:solidFill>
                  <a:srgbClr val="1D2430"/>
                </a:solidFill>
                <a:latin typeface="Segoe UI"/>
              </a:rPr>
              <a:t>Science of Computer Programming 230 (2023), art. 102990</a:t>
            </a:r>
            <a:r>
              <a:rPr sz="1250" b="0" i="0">
                <a:solidFill>
                  <a:srgbClr val="1D2430"/>
                </a:solidFill>
                <a:latin typeface="Segoe UI"/>
              </a:rPr>
              <a:t> · doi 10.1016/j.scico.2023.102990 · arXiv:2301.01234 (abstract + full HTML, fetched 2026-10-16).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5468112" cy="1481328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4A63"/>
                </a:solidFill>
                <a:latin typeface="Segoe UI"/>
              </a:rPr>
              <a:t>[2]  The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AmbieGen-tool - github.com/swat-lab-optimization/AmbieGen-tool, MIT license, v0.1.0, winner of the SBST 2022 tool competition; built on the Pymoo framework (pymoo.org). Cloned and executed by us, 2026-10-16.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468112" cy="1481328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4A63"/>
                </a:solidFill>
                <a:latin typeface="Segoe UI"/>
              </a:rPr>
              <a:t>[3]  Our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29584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D2430"/>
                </a:solidFill>
                <a:latin typeface="Segoe UI"/>
              </a:rPr>
              <a:t>research.md (verified knowledge base) · runners/run_builtin_robot.py, run_team_vehicle.py · evidence/builtin/, evidence/team/ (logs, stats, test cases, images) · demo-run.md, demo-script.md.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45152"/>
            <a:ext cx="11185855" cy="658368"/>
          </a:xfrm>
          <a:prstGeom prst="roundRect">
            <a:avLst>
              <a:gd name="adj" fmla="val 10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45152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6A00"/>
                </a:solidFill>
                <a:latin typeface="Segoe UI"/>
              </a:rPr>
              <a:t>AI usage for this deliverable </a:t>
            </a:r>
            <a:r>
              <a:rPr sz="1250" b="0" i="0">
                <a:solidFill>
                  <a:srgbClr val="1D2430"/>
                </a:solidFill>
                <a:latin typeface="Segoe UI"/>
              </a:rPr>
              <a:t>(tool, purpose, prompts, results, edits, validation) is documented in AI_USAGE.md.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41264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6727F"/>
                </a:solidFill>
                <a:latin typeface="Segoe UI"/>
              </a:rPr>
              <a:t>Every slide also carries its own source line (paper section, repo file:line, or evidence/ artifact) - the full index is in research.md §8.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669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D"/>
                </a:solidFill>
                <a:latin typeface="Segoe UI"/>
              </a:rPr>
              <a:t>PART 2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8585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2F4F7"/>
                </a:solidFill>
                <a:latin typeface="Segoe UI"/>
              </a:rPr>
              <a:t>See it run - the exact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5468112" cy="2377440"/>
          </a:xfrm>
          <a:prstGeom prst="roundRect">
            <a:avLst>
              <a:gd name="adj" fmla="val 5500"/>
            </a:avLst>
          </a:prstGeom>
          <a:solidFill>
            <a:srgbClr val="1E25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121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141821"/>
                </a:solidFill>
                <a:latin typeface="Segoe U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0744" y="212140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7"/>
                </a:solidFill>
                <a:latin typeface="Segoe UI"/>
              </a:rPr>
              <a:t>Built-in robot case study - ~86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743200"/>
            <a:ext cx="4956048" cy="786384"/>
          </a:xfrm>
          <a:prstGeom prst="roundRect">
            <a:avLst>
              <a:gd name="adj" fmla="val 10000"/>
            </a:avLst>
          </a:prstGeom>
          <a:solidFill>
            <a:srgbClr val="14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743200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DFE8"/>
                </a:solidFill>
                <a:latin typeface="Consolas"/>
              </a:rPr>
              <a:t>cd tss\course-ambiegen
.venv\Scripts\python.exe runners\run_builtin_robot.py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39312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A6B4"/>
                </a:solidFill>
                <a:latin typeface="Segoe UI"/>
              </a:rPr>
              <a:t>watch the pymoo table: cv_min 52.99 -&gt; 17.92 · then the mazes in evidence\builtin\16-10-2026_tc_images_nsga2\run0\*.png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468112" cy="2377440"/>
          </a:xfrm>
          <a:prstGeom prst="roundRect">
            <a:avLst>
              <a:gd name="adj" fmla="val 5500"/>
            </a:avLst>
          </a:prstGeom>
          <a:solidFill>
            <a:srgbClr val="1E25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2121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141821"/>
                </a:solidFill>
                <a:latin typeface="Segoe U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5744" y="212140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7"/>
                </a:solidFill>
                <a:latin typeface="Segoe UI"/>
              </a:rPr>
              <a:t>Team “Mountain Pass” - ~6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2743200"/>
            <a:ext cx="4956048" cy="786384"/>
          </a:xfrm>
          <a:prstGeom prst="roundRect">
            <a:avLst>
              <a:gd name="adj" fmla="val 10000"/>
            </a:avLst>
          </a:prstGeom>
          <a:solidFill>
            <a:srgbClr val="14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2743200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DFE8"/>
                </a:solidFill>
                <a:latin typeface="Consolas"/>
              </a:rPr>
              <a:t>.venv\Scripts\python.exe runners\run_team_vehicle.py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639312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A6B4"/>
                </a:solidFill>
                <a:latin typeface="Segoe UI"/>
              </a:rPr>
              <a:t>watch cv_min 2.36 -&gt; 1.35 · then the roads in evidence\team\16-10-2026_team_tc_images_nsga2\run0\*.png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17720"/>
            <a:ext cx="11185855" cy="822960"/>
          </a:xfrm>
          <a:prstGeom prst="roundRect">
            <a:avLst>
              <a:gd name="adj" fmla="val 7000"/>
            </a:avLst>
          </a:prstGeom>
          <a:solidFill>
            <a:srgbClr val="1E25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617720"/>
            <a:ext cx="10600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61D"/>
                </a:solidFill>
                <a:latin typeface="Segoe UI"/>
              </a:rPr>
              <a:t>Where the numbers come from: </a:t>
            </a:r>
            <a:r>
              <a:rPr sz="1250" b="0" i="0">
                <a:solidFill>
                  <a:srgbClr val="9AA6B4"/>
                </a:solidFill>
                <a:latin typeface="Segoe UI"/>
              </a:rPr>
              <a:t>every command, time and figure on these slides is reproduced in demo-run.md and demo-script.md, with logs under evidence/.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7"/>
                </a:solidFill>
                <a:latin typeface="Segoe UI"/>
              </a:rPr>
              <a:t>Thank you - 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6B4"/>
                </a:solidFill>
                <a:latin typeface="Segoe UI"/>
              </a:rPr>
              <a:t>Presenter 1 - problem · framework · method   |   Presenter 2 - case studies · results · demo   |   timings measured 2026-10-16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AmbieGen - Search-Based Test Case Generation for Autonomous Systems</dc:title>
  <dc:subject/>
  <dc:creator>Topic 4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